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embeddedFontLst>
    <p:embeddedFont>
      <p:font typeface="Instrument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strumentSans-bold.fntdata"/><Relationship Id="rId16" Type="http://schemas.openxmlformats.org/officeDocument/2006/relationships/font" Target="fonts/InstrumentSans-regular.fntdata"/><Relationship Id="rId5" Type="http://schemas.openxmlformats.org/officeDocument/2006/relationships/slide" Target="slides/slide1.xml"/><Relationship Id="rId19" Type="http://schemas.openxmlformats.org/officeDocument/2006/relationships/font" Target="fonts/InstrumentSans-boldItalic.fntdata"/><Relationship Id="rId6" Type="http://schemas.openxmlformats.org/officeDocument/2006/relationships/slide" Target="slides/slide2.xml"/><Relationship Id="rId18" Type="http://schemas.openxmlformats.org/officeDocument/2006/relationships/font" Target="fonts/Instrument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ff5514e08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ff5514e08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dff5514e08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ff5514e08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ff5514e08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ff5514e08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ff5514e08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ff5514e08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ff5514e08_1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ff5514e08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ff5514e08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ff5514e08_1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2973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200" y="94320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200"/>
              <a:buFont typeface="Instrument Sans"/>
              <a:buNone/>
            </a:pPr>
            <a:r>
              <a:rPr b="1" lang="en-US" sz="220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MARSILUX</a:t>
            </a:r>
            <a:endParaRPr b="1" i="0" sz="22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200" y="1467575"/>
            <a:ext cx="8461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"/>
              <a:buNone/>
            </a:pPr>
            <a:r>
              <a:rPr lang="en-US" sz="445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 za retenciju churnova uz maksimizaciju profita</a:t>
            </a:r>
            <a:endParaRPr b="0" i="0" sz="44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80190" y="3563486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AI-driven sistem koji optimizira </a:t>
            </a:r>
            <a:r>
              <a:rPr b="1"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vrijednost retencije</a:t>
            </a:r>
            <a:endParaRPr b="1" sz="1750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0672465" y="5596242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Powered by</a:t>
            </a:r>
            <a:endParaRPr b="0" i="0" sz="1750" u="none" cap="none" strike="noStrike"/>
          </a:p>
        </p:txBody>
      </p:sp>
      <p:pic>
        <p:nvPicPr>
          <p:cNvPr descr="preencoded.png" id="61" name="Google Shape;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4690" y="6168734"/>
            <a:ext cx="1874520" cy="792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6280190" y="6301502"/>
            <a:ext cx="18795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63" name="Google Shape;6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19208" y="6004671"/>
            <a:ext cx="1879521" cy="95654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8720733" y="6465570"/>
            <a:ext cx="18795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997425" y="681299"/>
            <a:ext cx="41544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224"/>
              <a:buFont typeface="Instrument Sans"/>
              <a:buNone/>
            </a:pPr>
            <a:r>
              <a:rPr b="1" lang="en-US" sz="3224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Naš model</a:t>
            </a:r>
            <a:endParaRPr b="0" i="0" sz="3224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997431" y="1357790"/>
            <a:ext cx="7062900" cy="23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02430" lvl="0" marL="50243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564"/>
              <a:buFont typeface="Instrument Sans"/>
              <a:buChar char="•"/>
            </a:pPr>
            <a:r>
              <a:rPr lang="en-US" sz="2564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Rano detektira churnove</a:t>
            </a:r>
            <a:endParaRPr sz="2564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502430" lvl="0" marL="50243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564"/>
              <a:buFont typeface="Instrument Sans"/>
              <a:buChar char="•"/>
            </a:pPr>
            <a:r>
              <a:rPr lang="en-US" sz="2564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Predlaže optimalne retencijske mjere koje maksimiziraju profit</a:t>
            </a:r>
            <a:endParaRPr b="0" i="0" sz="2564" u="none" cap="none" strike="noStrike"/>
          </a:p>
          <a:p>
            <a:pPr indent="-502430" lvl="0" marL="50243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564"/>
              <a:buFont typeface="Instrument Sans"/>
              <a:buChar char="•"/>
            </a:pPr>
            <a:r>
              <a:rPr lang="en-US" sz="2564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Kontinuirano uči na novim podacima</a:t>
            </a:r>
            <a:endParaRPr b="0" i="0" sz="2564" u="none" cap="none" strike="noStrike"/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9143025" y="0"/>
            <a:ext cx="5487377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 title="Infographic with Drop Shadows and Cobalt Arrows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583818" y="-2713657"/>
            <a:ext cx="5462750" cy="136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8502350" y="2254175"/>
            <a:ext cx="187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Feedback</a:t>
            </a:r>
            <a:br>
              <a:rPr lang="en-US" sz="1500"/>
            </a:br>
            <a:r>
              <a:rPr lang="en-US" sz="1500"/>
              <a:t>(update model)</a:t>
            </a:r>
            <a:endParaRPr sz="1500"/>
          </a:p>
        </p:txBody>
      </p:sp>
      <p:sp>
        <p:nvSpPr>
          <p:cNvPr id="80" name="Google Shape;80;p15"/>
          <p:cNvSpPr txBox="1"/>
          <p:nvPr/>
        </p:nvSpPr>
        <p:spPr>
          <a:xfrm>
            <a:off x="8318750" y="5321000"/>
            <a:ext cx="2238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Maksimizacija</a:t>
            </a: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funkcije rewarda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5760600" cy="8229600"/>
          </a:xfrm>
          <a:prstGeom prst="rect">
            <a:avLst/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218158" y="596027"/>
            <a:ext cx="5782508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00"/>
              <a:buFont typeface="Instrument Sans"/>
              <a:buNone/>
            </a:pPr>
            <a:r>
              <a:rPr b="0" i="0" lang="en-US" sz="410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 1: </a:t>
            </a:r>
            <a:r>
              <a:rPr lang="en-US" sz="410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Predikcija rizika</a:t>
            </a:r>
            <a:endParaRPr b="0" i="0" sz="4100" u="none" cap="none" strike="noStrike"/>
          </a:p>
        </p:txBody>
      </p:sp>
      <p:sp>
        <p:nvSpPr>
          <p:cNvPr id="88" name="Google Shape;88;p16"/>
          <p:cNvSpPr/>
          <p:nvPr/>
        </p:nvSpPr>
        <p:spPr>
          <a:xfrm>
            <a:off x="6218158" y="1466036"/>
            <a:ext cx="26139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050"/>
              <a:buFont typeface="Instrument Sans"/>
              <a:buNone/>
            </a:pPr>
            <a:r>
              <a:rPr b="0" i="0" lang="en-US" sz="20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LightGBM </a:t>
            </a:r>
            <a:r>
              <a:rPr lang="en-US" sz="205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</a:t>
            </a:r>
            <a:endParaRPr b="0" i="0" sz="2050" u="none" cap="none" strike="noStrike"/>
          </a:p>
        </p:txBody>
      </p:sp>
      <p:sp>
        <p:nvSpPr>
          <p:cNvPr id="89" name="Google Shape;89;p16"/>
          <p:cNvSpPr/>
          <p:nvPr/>
        </p:nvSpPr>
        <p:spPr>
          <a:xfrm>
            <a:off x="6218149" y="1985375"/>
            <a:ext cx="3960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00"/>
              <a:buFont typeface="Instrument Sans"/>
              <a:buChar char="•"/>
            </a:pPr>
            <a:r>
              <a:rPr b="0" i="0" lang="en-US" sz="16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SMOTE </a:t>
            </a:r>
            <a:r>
              <a:rPr lang="en-US" sz="16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- nebalansirane klase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00"/>
              <a:buFont typeface="Instrument Sans"/>
              <a:buChar char="•"/>
            </a:pPr>
            <a:r>
              <a:rPr b="0" i="0" lang="en-US" sz="16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Optuna </a:t>
            </a:r>
            <a:r>
              <a:rPr lang="en-US" sz="16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- optimizacija parametara</a:t>
            </a:r>
            <a:endParaRPr b="0" i="0" sz="1600" u="none" cap="none" strike="noStrike"/>
          </a:p>
          <a:p>
            <a:pPr indent="-342900" lvl="0" marL="3429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00"/>
              <a:buFont typeface="Instrument Sans"/>
              <a:buChar char="•"/>
            </a:pPr>
            <a:r>
              <a:rPr b="0" i="0" lang="en-US" sz="16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SHAP </a:t>
            </a:r>
            <a:r>
              <a:rPr lang="en-US" sz="16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- najznačajniji prediktori</a:t>
            </a:r>
            <a:endParaRPr b="0" i="0" sz="1600" u="none" cap="none" strike="noStrike"/>
          </a:p>
        </p:txBody>
      </p:sp>
      <p:sp>
        <p:nvSpPr>
          <p:cNvPr id="90" name="Google Shape;90;p16"/>
          <p:cNvSpPr/>
          <p:nvPr/>
        </p:nvSpPr>
        <p:spPr>
          <a:xfrm>
            <a:off x="10321050" y="1466025"/>
            <a:ext cx="2923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050"/>
              <a:buFont typeface="Instrument Sans"/>
              <a:buNone/>
            </a:pPr>
            <a:r>
              <a:rPr lang="en-US" sz="205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Najznačajniji prediktori</a:t>
            </a:r>
            <a:endParaRPr b="0" i="0" sz="2050" u="none" cap="none" strike="noStrike"/>
          </a:p>
        </p:txBody>
      </p:sp>
      <p:sp>
        <p:nvSpPr>
          <p:cNvPr id="91" name="Google Shape;91;p16"/>
          <p:cNvSpPr/>
          <p:nvPr/>
        </p:nvSpPr>
        <p:spPr>
          <a:xfrm>
            <a:off x="10321052" y="1985387"/>
            <a:ext cx="3585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00"/>
              <a:buFont typeface="Instrument Sans"/>
              <a:buChar char="•"/>
            </a:pPr>
            <a:r>
              <a:rPr lang="en-US" sz="16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Duljina odnosa (u godinama)</a:t>
            </a:r>
            <a:endParaRPr sz="1600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42900" lvl="0" marL="3429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00"/>
              <a:buFont typeface="Instrument Sans"/>
              <a:buChar char="•"/>
            </a:pPr>
            <a:r>
              <a:rPr lang="en-US" sz="16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Prosječno stanje na računu</a:t>
            </a:r>
            <a:endParaRPr sz="1600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42900" lvl="0" marL="34290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00"/>
              <a:buFont typeface="Instrument Sans"/>
              <a:buChar char="•"/>
            </a:pPr>
            <a:r>
              <a:rPr lang="en-US" sz="16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Prima plaću na račun</a:t>
            </a:r>
            <a:endParaRPr sz="1600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92" name="Google Shape;92;p16" title="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00" y="3369800"/>
            <a:ext cx="8276489" cy="445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pie_chart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412" y="1366117"/>
            <a:ext cx="5145775" cy="5497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 title="perform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37" y="130163"/>
            <a:ext cx="13612324" cy="796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0" y="0"/>
            <a:ext cx="5760600" cy="8229600"/>
          </a:xfrm>
          <a:prstGeom prst="rect">
            <a:avLst/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6280200" y="1385525"/>
            <a:ext cx="75564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"/>
              <a:buNone/>
            </a:pPr>
            <a:r>
              <a:rPr b="0" i="0" lang="en-US" sz="44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 2: </a:t>
            </a:r>
            <a:r>
              <a:rPr lang="en-US" sz="445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Optimizacija dodjele akcija</a:t>
            </a:r>
            <a:endParaRPr b="0" i="0" sz="4450" u="none" cap="none" strike="noStrike"/>
          </a:p>
        </p:txBody>
      </p:sp>
      <p:sp>
        <p:nvSpPr>
          <p:cNvPr id="107" name="Google Shape;107;p18"/>
          <p:cNvSpPr/>
          <p:nvPr/>
        </p:nvSpPr>
        <p:spPr>
          <a:xfrm>
            <a:off x="6535341" y="3143250"/>
            <a:ext cx="30600" cy="3700800"/>
          </a:xfrm>
          <a:prstGeom prst="roundRect">
            <a:avLst>
              <a:gd fmla="val 669768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6760012" y="3383161"/>
            <a:ext cx="680400" cy="30600"/>
          </a:xfrm>
          <a:prstGeom prst="roundRect">
            <a:avLst>
              <a:gd fmla="val 669768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6280190" y="3143250"/>
            <a:ext cx="510300" cy="510300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6365260" y="3185755"/>
            <a:ext cx="340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650"/>
              <a:buFont typeface="Instrument Sans"/>
              <a:buNone/>
            </a:pPr>
            <a:r>
              <a:rPr b="0" i="0" lang="en-US" sz="26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</a:t>
            </a:r>
            <a:endParaRPr b="0" i="0" sz="2650" u="none" cap="none" strike="noStrike"/>
          </a:p>
        </p:txBody>
      </p:sp>
      <p:sp>
        <p:nvSpPr>
          <p:cNvPr id="111" name="Google Shape;111;p18"/>
          <p:cNvSpPr/>
          <p:nvPr/>
        </p:nvSpPr>
        <p:spPr>
          <a:xfrm>
            <a:off x="7669411" y="322111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lang="en-US" sz="22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Aktivacija</a:t>
            </a:r>
            <a:endParaRPr b="0" i="0" sz="2200" u="none" cap="none" strike="noStrike"/>
          </a:p>
        </p:txBody>
      </p:sp>
      <p:sp>
        <p:nvSpPr>
          <p:cNvPr id="112" name="Google Shape;112;p18"/>
          <p:cNvSpPr/>
          <p:nvPr/>
        </p:nvSpPr>
        <p:spPr>
          <a:xfrm>
            <a:off x="7669411" y="3711535"/>
            <a:ext cx="6167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Klijent je potencijalni churn u idućih 3 mjeseca</a:t>
            </a:r>
            <a:endParaRPr b="0" i="0" sz="1750" u="none" cap="none" strike="noStrike"/>
          </a:p>
        </p:txBody>
      </p:sp>
      <p:sp>
        <p:nvSpPr>
          <p:cNvPr id="113" name="Google Shape;113;p18"/>
          <p:cNvSpPr/>
          <p:nvPr/>
        </p:nvSpPr>
        <p:spPr>
          <a:xfrm>
            <a:off x="6760012" y="4767977"/>
            <a:ext cx="680400" cy="30600"/>
          </a:xfrm>
          <a:prstGeom prst="roundRect">
            <a:avLst>
              <a:gd fmla="val 669768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6280190" y="4528066"/>
            <a:ext cx="510300" cy="510300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6365260" y="4570571"/>
            <a:ext cx="340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650"/>
              <a:buFont typeface="Instrument Sans"/>
              <a:buNone/>
            </a:pPr>
            <a:r>
              <a:rPr b="0" i="0" lang="en-US" sz="26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</a:t>
            </a:r>
            <a:endParaRPr b="0" i="0" sz="2650" u="none" cap="none" strike="noStrike"/>
          </a:p>
        </p:txBody>
      </p:sp>
      <p:sp>
        <p:nvSpPr>
          <p:cNvPr id="116" name="Google Shape;116;p18"/>
          <p:cNvSpPr/>
          <p:nvPr/>
        </p:nvSpPr>
        <p:spPr>
          <a:xfrm>
            <a:off x="7669411" y="460593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lang="en-US" sz="22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Kontekstualni</a:t>
            </a:r>
            <a:r>
              <a:rPr b="0" i="0" lang="en-US" sz="22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lang="en-US" sz="22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</a:t>
            </a:r>
            <a:r>
              <a:rPr b="0" i="0" lang="en-US" sz="22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andit</a:t>
            </a:r>
            <a:endParaRPr b="0" i="0" sz="2200" u="none" cap="none" strike="noStrike"/>
          </a:p>
        </p:txBody>
      </p:sp>
      <p:sp>
        <p:nvSpPr>
          <p:cNvPr id="117" name="Google Shape;117;p18"/>
          <p:cNvSpPr/>
          <p:nvPr/>
        </p:nvSpPr>
        <p:spPr>
          <a:xfrm>
            <a:off x="7669411" y="5096351"/>
            <a:ext cx="6167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Bira akciju koja maksimizira očekivanu dodanu vrijednost</a:t>
            </a:r>
            <a:endParaRPr b="0" i="0" sz="1750" u="none" cap="none" strike="noStrike"/>
          </a:p>
        </p:txBody>
      </p:sp>
      <p:sp>
        <p:nvSpPr>
          <p:cNvPr id="118" name="Google Shape;118;p18"/>
          <p:cNvSpPr/>
          <p:nvPr/>
        </p:nvSpPr>
        <p:spPr>
          <a:xfrm>
            <a:off x="6760012" y="6152793"/>
            <a:ext cx="680400" cy="30600"/>
          </a:xfrm>
          <a:prstGeom prst="roundRect">
            <a:avLst>
              <a:gd fmla="val 669768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6280190" y="5912882"/>
            <a:ext cx="510300" cy="510300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6365260" y="5955387"/>
            <a:ext cx="340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650"/>
              <a:buFont typeface="Instrument Sans"/>
              <a:buNone/>
            </a:pPr>
            <a:r>
              <a:rPr b="0" i="0" lang="en-US" sz="26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</a:t>
            </a:r>
            <a:endParaRPr b="0" i="0" sz="2650" u="none" cap="none" strike="noStrike"/>
          </a:p>
        </p:txBody>
      </p:sp>
      <p:sp>
        <p:nvSpPr>
          <p:cNvPr id="121" name="Google Shape;121;p18"/>
          <p:cNvSpPr/>
          <p:nvPr/>
        </p:nvSpPr>
        <p:spPr>
          <a:xfrm>
            <a:off x="7669411" y="5990749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b="0" i="0" lang="en-US" sz="22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Feedback Loop</a:t>
            </a:r>
            <a:endParaRPr b="0" i="0" sz="2200" u="none" cap="none" strike="noStrike"/>
          </a:p>
        </p:txBody>
      </p:sp>
      <p:sp>
        <p:nvSpPr>
          <p:cNvPr id="122" name="Google Shape;122;p18"/>
          <p:cNvSpPr/>
          <p:nvPr/>
        </p:nvSpPr>
        <p:spPr>
          <a:xfrm>
            <a:off x="7669411" y="6481167"/>
            <a:ext cx="6167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 uči iz odgođenih ishoda</a:t>
            </a:r>
            <a:endParaRPr b="0" i="0" sz="1750" u="none" cap="none" strike="noStrike"/>
          </a:p>
        </p:txBody>
      </p:sp>
      <p:pic>
        <p:nvPicPr>
          <p:cNvPr descr="equation"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9400" y="4074525"/>
            <a:ext cx="1010575" cy="27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9400" y="6980300"/>
            <a:ext cx="3031591" cy="3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9400" y="5484950"/>
            <a:ext cx="2446046" cy="3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https_github_com_mmestrov2000_fintech-hackathon_raw_main_docs_contextual_bandit_pd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0724" y="220950"/>
            <a:ext cx="1266028" cy="1266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download (2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9986" y="1826625"/>
            <a:ext cx="4180626" cy="5912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790050" y="962550"/>
            <a:ext cx="41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"/>
              <a:buNone/>
            </a:pPr>
            <a:r>
              <a:rPr lang="en-US" sz="280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Metodologija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945890" y="773030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"/>
              <a:buNone/>
            </a:pPr>
            <a:r>
              <a:rPr lang="en-US" sz="445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Dizajn eksperimenta</a:t>
            </a:r>
            <a:endParaRPr b="0" i="0" sz="4450" u="none" cap="none" strike="noStrike"/>
          </a:p>
        </p:txBody>
      </p:sp>
      <p:sp>
        <p:nvSpPr>
          <p:cNvPr id="135" name="Google Shape;135;p19"/>
          <p:cNvSpPr/>
          <p:nvPr/>
        </p:nvSpPr>
        <p:spPr>
          <a:xfrm>
            <a:off x="990856" y="4228500"/>
            <a:ext cx="6165900" cy="2172900"/>
          </a:xfrm>
          <a:prstGeom prst="roundRect">
            <a:avLst>
              <a:gd fmla="val 6733" name="adj"/>
            </a:avLst>
          </a:prstGeom>
          <a:solidFill>
            <a:srgbClr val="FFFFFF"/>
          </a:solidFill>
          <a:ln cap="flat" cmpd="sng" w="30475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961529" y="4228500"/>
            <a:ext cx="117300" cy="2172900"/>
          </a:xfrm>
          <a:prstGeom prst="roundRect">
            <a:avLst>
              <a:gd fmla="val 167442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1326416" y="4485800"/>
            <a:ext cx="3866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lang="en-US" sz="22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Očekivano ponašanje modela</a:t>
            </a:r>
            <a:endParaRPr b="0" i="0" sz="2200" u="none" cap="none" strike="noStrike"/>
          </a:p>
        </p:txBody>
      </p:sp>
      <p:sp>
        <p:nvSpPr>
          <p:cNvPr id="138" name="Google Shape;138;p19"/>
          <p:cNvSpPr/>
          <p:nvPr/>
        </p:nvSpPr>
        <p:spPr>
          <a:xfrm>
            <a:off x="975931" y="2055600"/>
            <a:ext cx="6180600" cy="2172900"/>
          </a:xfrm>
          <a:prstGeom prst="roundRect">
            <a:avLst>
              <a:gd fmla="val 6733" name="adj"/>
            </a:avLst>
          </a:prstGeom>
          <a:solidFill>
            <a:srgbClr val="FFFFFF"/>
          </a:solidFill>
          <a:ln cap="flat" cmpd="sng" w="30475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960950" y="2055612"/>
            <a:ext cx="118200" cy="2172900"/>
          </a:xfrm>
          <a:prstGeom prst="roundRect">
            <a:avLst>
              <a:gd fmla="val 167442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1314728" y="2312907"/>
            <a:ext cx="3290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lang="en-US" sz="22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Sintetički dataset</a:t>
            </a:r>
            <a:endParaRPr b="0" i="0" sz="2200" u="none" cap="none" strike="noStrike"/>
          </a:p>
        </p:txBody>
      </p:sp>
      <p:sp>
        <p:nvSpPr>
          <p:cNvPr id="141" name="Google Shape;141;p19"/>
          <p:cNvSpPr/>
          <p:nvPr/>
        </p:nvSpPr>
        <p:spPr>
          <a:xfrm>
            <a:off x="1314728" y="2803325"/>
            <a:ext cx="5636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Char char="•"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Poziv</a:t>
            </a:r>
            <a:r>
              <a:rPr b="0" i="0" lang="en-US" sz="17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- </a:t>
            </a: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statistički visok utjecaj na retenciju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Char char="•"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action, email, push - </a:t>
            </a: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statistički nizak utjecaj na retenciju</a:t>
            </a:r>
            <a:endParaRPr b="0" i="0" sz="1750" u="none" cap="none" strike="noStrike"/>
          </a:p>
        </p:txBody>
      </p:sp>
      <p:sp>
        <p:nvSpPr>
          <p:cNvPr id="142" name="Google Shape;142;p19"/>
          <p:cNvSpPr/>
          <p:nvPr/>
        </p:nvSpPr>
        <p:spPr>
          <a:xfrm>
            <a:off x="991743" y="6879925"/>
            <a:ext cx="53703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None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Ključno</a:t>
            </a:r>
            <a:r>
              <a:rPr b="0" i="0" lang="en-US" sz="17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: </a:t>
            </a: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 ne bi smio naučiti da “samo zove”.</a:t>
            </a:r>
            <a:endParaRPr b="0" i="0" sz="1750" u="none" cap="none" strike="noStrike"/>
          </a:p>
        </p:txBody>
      </p:sp>
      <p:sp>
        <p:nvSpPr>
          <p:cNvPr id="143" name="Google Shape;143;p19"/>
          <p:cNvSpPr/>
          <p:nvPr/>
        </p:nvSpPr>
        <p:spPr>
          <a:xfrm>
            <a:off x="1247987" y="5097400"/>
            <a:ext cx="5636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Char char="•"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Favoriziranje poziva za high-value klijente</a:t>
            </a:r>
            <a:endParaRPr sz="1750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9725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"/>
              <a:buChar char="•"/>
            </a:pPr>
            <a:r>
              <a:rPr lang="en-US" sz="17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action ili low-cost akcije za low-value klijente</a:t>
            </a:r>
            <a:endParaRPr sz="1750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144" name="Google Shape;144;p19" title="churn_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100" y="539363"/>
            <a:ext cx="4599426" cy="343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 title="sca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0300" y="4228500"/>
            <a:ext cx="4599364" cy="34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0" title="bandit_learning_progression_mode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6912"/>
            <a:ext cx="14325601" cy="445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834628" y="521732"/>
            <a:ext cx="5493663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650"/>
              <a:buFont typeface="Instrument Sans"/>
              <a:buNone/>
            </a:pPr>
            <a:r>
              <a:rPr lang="en-US" sz="365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Rezultati</a:t>
            </a:r>
            <a:endParaRPr b="0" i="0" sz="3650" u="none" cap="none" strike="noStrike"/>
          </a:p>
        </p:txBody>
      </p:sp>
      <p:sp>
        <p:nvSpPr>
          <p:cNvPr id="158" name="Google Shape;158;p21"/>
          <p:cNvSpPr/>
          <p:nvPr/>
        </p:nvSpPr>
        <p:spPr>
          <a:xfrm>
            <a:off x="834753" y="1338742"/>
            <a:ext cx="41907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850"/>
              <a:buFont typeface="Instrument Sans"/>
              <a:buNone/>
            </a:pPr>
            <a:r>
              <a:rPr b="0" i="0" lang="en-US" sz="41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€1</a:t>
            </a:r>
            <a:r>
              <a:rPr lang="en-US" sz="41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1.1</a:t>
            </a:r>
            <a:r>
              <a:rPr b="0" i="0" lang="en-US" sz="41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</a:t>
            </a:r>
            <a:endParaRPr b="0" i="0" sz="4150" u="none" cap="none" strike="noStrike"/>
          </a:p>
        </p:txBody>
      </p:sp>
      <p:sp>
        <p:nvSpPr>
          <p:cNvPr id="159" name="Google Shape;159;p21"/>
          <p:cNvSpPr/>
          <p:nvPr/>
        </p:nvSpPr>
        <p:spPr>
          <a:xfrm>
            <a:off x="1602301" y="2110425"/>
            <a:ext cx="26553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lang="en-US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Ukupni spašeni prihod</a:t>
            </a:r>
            <a:endParaRPr b="0" i="0" sz="1800" u="none" cap="none" strike="noStrike"/>
          </a:p>
        </p:txBody>
      </p:sp>
      <p:sp>
        <p:nvSpPr>
          <p:cNvPr id="160" name="Google Shape;160;p21"/>
          <p:cNvSpPr/>
          <p:nvPr/>
        </p:nvSpPr>
        <p:spPr>
          <a:xfrm>
            <a:off x="5219825" y="1338742"/>
            <a:ext cx="41907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850"/>
              <a:buFont typeface="Instrument Sans"/>
              <a:buNone/>
            </a:pPr>
            <a:r>
              <a:rPr lang="en-US" sz="41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€5.5M</a:t>
            </a:r>
            <a:endParaRPr b="0" i="0" sz="4150" u="none" cap="none" strike="noStrike"/>
          </a:p>
        </p:txBody>
      </p:sp>
      <p:sp>
        <p:nvSpPr>
          <p:cNvPr id="161" name="Google Shape;161;p21"/>
          <p:cNvSpPr/>
          <p:nvPr/>
        </p:nvSpPr>
        <p:spPr>
          <a:xfrm>
            <a:off x="5833850" y="2110425"/>
            <a:ext cx="29622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lang="en-US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Spašeno prihoda godišnje</a:t>
            </a:r>
            <a:endParaRPr b="0" i="0" sz="1800" u="none" cap="none" strike="noStrike"/>
          </a:p>
        </p:txBody>
      </p:sp>
      <p:sp>
        <p:nvSpPr>
          <p:cNvPr id="162" name="Google Shape;162;p21"/>
          <p:cNvSpPr/>
          <p:nvPr/>
        </p:nvSpPr>
        <p:spPr>
          <a:xfrm>
            <a:off x="9605016" y="1338742"/>
            <a:ext cx="41907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850"/>
              <a:buFont typeface="Instrument Sans"/>
              <a:buNone/>
            </a:pPr>
            <a:r>
              <a:rPr lang="en-US" sz="41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€104</a:t>
            </a:r>
            <a:endParaRPr b="0" i="0" sz="4150" u="none" cap="none" strike="noStrike"/>
          </a:p>
        </p:txBody>
      </p:sp>
      <p:sp>
        <p:nvSpPr>
          <p:cNvPr id="163" name="Google Shape;163;p21"/>
          <p:cNvSpPr/>
          <p:nvPr/>
        </p:nvSpPr>
        <p:spPr>
          <a:xfrm>
            <a:off x="10121714" y="2110425"/>
            <a:ext cx="31572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lang="en-US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Spašeno prihoda po klijentu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t/>
            </a:r>
            <a:endParaRPr sz="1800">
              <a:solidFill>
                <a:srgbClr val="1E3063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1774739" y="4096926"/>
            <a:ext cx="2310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3650"/>
              <a:buFont typeface="Instrument Sans"/>
              <a:buNone/>
            </a:pPr>
            <a:r>
              <a:rPr lang="en-US" sz="36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</a:t>
            </a:r>
            <a:r>
              <a:rPr b="0" i="0" lang="en-US" sz="36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%</a:t>
            </a:r>
            <a:endParaRPr b="0" i="0" sz="3650" u="none" cap="none" strike="noStrike"/>
          </a:p>
        </p:txBody>
      </p:sp>
      <p:pic>
        <p:nvPicPr>
          <p:cNvPr descr="preencoded.png"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254" y="2922870"/>
            <a:ext cx="2817615" cy="281761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/>
          <p:nvPr/>
        </p:nvSpPr>
        <p:spPr>
          <a:xfrm>
            <a:off x="1756059" y="6072190"/>
            <a:ext cx="234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lang="en-US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Frekvencija poziva</a:t>
            </a:r>
            <a:endParaRPr b="0" i="0" sz="1800" u="none" cap="none" strike="noStrike"/>
          </a:p>
        </p:txBody>
      </p:sp>
      <p:sp>
        <p:nvSpPr>
          <p:cNvPr id="167" name="Google Shape;167;p21"/>
          <p:cNvSpPr/>
          <p:nvPr/>
        </p:nvSpPr>
        <p:spPr>
          <a:xfrm>
            <a:off x="834753" y="6458905"/>
            <a:ext cx="4190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"/>
              <a:buNone/>
            </a:pPr>
            <a:r>
              <a:rPr lang="en-US" sz="14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Skupa ali efikasna akcija</a:t>
            </a:r>
            <a:endParaRPr b="0" i="0" sz="1450" u="none" cap="none" strike="noStrike"/>
          </a:p>
        </p:txBody>
      </p:sp>
      <p:sp>
        <p:nvSpPr>
          <p:cNvPr id="168" name="Google Shape;168;p21"/>
          <p:cNvSpPr/>
          <p:nvPr/>
        </p:nvSpPr>
        <p:spPr>
          <a:xfrm>
            <a:off x="6159811" y="4096926"/>
            <a:ext cx="2310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3650"/>
              <a:buFont typeface="Instrument Sans"/>
              <a:buNone/>
            </a:pPr>
            <a:r>
              <a:rPr lang="en-US" sz="36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25</a:t>
            </a:r>
            <a:r>
              <a:rPr b="0" i="0" lang="en-US" sz="36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%</a:t>
            </a:r>
            <a:endParaRPr b="0" i="0" sz="3650" u="none" cap="none" strike="noStrike"/>
          </a:p>
        </p:txBody>
      </p:sp>
      <p:pic>
        <p:nvPicPr>
          <p:cNvPr descr="preencoded.png"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026" y="2922870"/>
            <a:ext cx="2817615" cy="28176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/>
          <p:nvPr/>
        </p:nvSpPr>
        <p:spPr>
          <a:xfrm>
            <a:off x="6141250" y="6072190"/>
            <a:ext cx="234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lang="en-US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Push notifikacija</a:t>
            </a:r>
            <a:endParaRPr b="0" i="0" sz="1800" u="none" cap="none" strike="noStrike"/>
          </a:p>
        </p:txBody>
      </p:sp>
      <p:sp>
        <p:nvSpPr>
          <p:cNvPr id="171" name="Google Shape;171;p21"/>
          <p:cNvSpPr/>
          <p:nvPr/>
        </p:nvSpPr>
        <p:spPr>
          <a:xfrm>
            <a:off x="5219825" y="6458905"/>
            <a:ext cx="4190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"/>
              <a:buNone/>
            </a:pPr>
            <a:r>
              <a:rPr lang="en-US" sz="14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Jeftina i skalabilna akcija</a:t>
            </a:r>
            <a:endParaRPr b="0" i="0" sz="1450" u="none" cap="none" strike="noStrike"/>
          </a:p>
        </p:txBody>
      </p:sp>
      <p:sp>
        <p:nvSpPr>
          <p:cNvPr id="172" name="Google Shape;172;p21"/>
          <p:cNvSpPr/>
          <p:nvPr/>
        </p:nvSpPr>
        <p:spPr>
          <a:xfrm>
            <a:off x="10545002" y="4096926"/>
            <a:ext cx="2310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3650"/>
              <a:buFont typeface="Instrument Sans"/>
              <a:buNone/>
            </a:pPr>
            <a:r>
              <a:rPr lang="en-US" sz="36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</a:t>
            </a:r>
            <a:r>
              <a:rPr b="0" i="0" lang="en-US" sz="36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%</a:t>
            </a:r>
            <a:endParaRPr b="0" i="0" sz="3650" u="none" cap="none" strike="noStrike"/>
          </a:p>
        </p:txBody>
      </p:sp>
      <p:pic>
        <p:nvPicPr>
          <p:cNvPr descr="preencoded.png" id="173" name="Google Shape;1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2792" y="3022557"/>
            <a:ext cx="2817615" cy="28176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10526322" y="6072190"/>
            <a:ext cx="234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"/>
              <a:buNone/>
            </a:pPr>
            <a:r>
              <a:rPr lang="en-US" sz="18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Email</a:t>
            </a:r>
            <a:endParaRPr b="0" i="0" sz="1800" u="none" cap="none" strike="noStrike"/>
          </a:p>
        </p:txBody>
      </p:sp>
      <p:sp>
        <p:nvSpPr>
          <p:cNvPr id="175" name="Google Shape;175;p21"/>
          <p:cNvSpPr/>
          <p:nvPr/>
        </p:nvSpPr>
        <p:spPr>
          <a:xfrm>
            <a:off x="9605016" y="6458905"/>
            <a:ext cx="4190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"/>
              <a:buNone/>
            </a:pPr>
            <a:r>
              <a:rPr lang="en-US" sz="14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Personalizirana interakcija</a:t>
            </a:r>
            <a:endParaRPr b="0" i="0" sz="1450" u="none" cap="none" strike="noStrike"/>
          </a:p>
        </p:txBody>
      </p:sp>
      <p:sp>
        <p:nvSpPr>
          <p:cNvPr id="176" name="Google Shape;176;p21"/>
          <p:cNvSpPr/>
          <p:nvPr/>
        </p:nvSpPr>
        <p:spPr>
          <a:xfrm>
            <a:off x="1116330" y="7258288"/>
            <a:ext cx="12679323" cy="27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"/>
              <a:buNone/>
            </a:pPr>
            <a:r>
              <a:rPr lang="en-US" sz="145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 izbjegava skupu strategiju „uvijek zovi” i primjenjuje visoko personalizirane akcije tamo gdje vrijednost opravdava trošak.</a:t>
            </a:r>
            <a:endParaRPr b="0" i="0" sz="1450" u="none" cap="none" strike="noStrike"/>
          </a:p>
        </p:txBody>
      </p:sp>
      <p:sp>
        <p:nvSpPr>
          <p:cNvPr id="177" name="Google Shape;177;p21"/>
          <p:cNvSpPr/>
          <p:nvPr/>
        </p:nvSpPr>
        <p:spPr>
          <a:xfrm>
            <a:off x="834753" y="6908485"/>
            <a:ext cx="22800" cy="62460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2" title="bandit_policy_comparison_mode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25" y="682234"/>
            <a:ext cx="14630400" cy="6865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793790" y="1205984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"/>
              <a:buNone/>
            </a:pPr>
            <a:r>
              <a:rPr b="0" i="0" lang="en-US" sz="4450" u="none" cap="none" strike="noStrike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</a:t>
            </a:r>
            <a:endParaRPr b="0" i="0" sz="4450" u="none" cap="none" strike="noStrike"/>
          </a:p>
        </p:txBody>
      </p:sp>
      <p:sp>
        <p:nvSpPr>
          <p:cNvPr id="190" name="Google Shape;190;p23"/>
          <p:cNvSpPr/>
          <p:nvPr/>
        </p:nvSpPr>
        <p:spPr>
          <a:xfrm>
            <a:off x="793790" y="2368391"/>
            <a:ext cx="6408000" cy="2214300"/>
          </a:xfrm>
          <a:prstGeom prst="roundRect">
            <a:avLst>
              <a:gd fmla="val 922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1020604" y="2595205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770" y="278225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/>
          <p:nvPr/>
        </p:nvSpPr>
        <p:spPr>
          <a:xfrm>
            <a:off x="1020604" y="3502462"/>
            <a:ext cx="3047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b="0" i="0" lang="en-US" sz="22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Spreman za produkciju</a:t>
            </a:r>
            <a:endParaRPr b="0" i="0" sz="2200" u="none" cap="none" strike="noStrike"/>
          </a:p>
        </p:txBody>
      </p:sp>
      <p:sp>
        <p:nvSpPr>
          <p:cNvPr id="194" name="Google Shape;194;p23"/>
          <p:cNvSpPr/>
          <p:nvPr/>
        </p:nvSpPr>
        <p:spPr>
          <a:xfrm>
            <a:off x="1020604" y="3992880"/>
            <a:ext cx="5954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95" name="Google Shape;195;p23"/>
          <p:cNvSpPr/>
          <p:nvPr/>
        </p:nvSpPr>
        <p:spPr>
          <a:xfrm>
            <a:off x="7428548" y="2368391"/>
            <a:ext cx="6408000" cy="2214300"/>
          </a:xfrm>
          <a:prstGeom prst="roundRect">
            <a:avLst>
              <a:gd fmla="val 922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7655362" y="2595205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2528" y="278225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/>
          <p:nvPr/>
        </p:nvSpPr>
        <p:spPr>
          <a:xfrm>
            <a:off x="7655362" y="350246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b="0" i="0" lang="en-US" sz="22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Optimizira profit</a:t>
            </a:r>
            <a:endParaRPr b="0" i="0" sz="2200" u="none" cap="none" strike="noStrike"/>
          </a:p>
        </p:txBody>
      </p:sp>
      <p:sp>
        <p:nvSpPr>
          <p:cNvPr id="199" name="Google Shape;199;p23"/>
          <p:cNvSpPr/>
          <p:nvPr/>
        </p:nvSpPr>
        <p:spPr>
          <a:xfrm>
            <a:off x="7655362" y="3992880"/>
            <a:ext cx="5954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200" name="Google Shape;200;p23"/>
          <p:cNvSpPr/>
          <p:nvPr/>
        </p:nvSpPr>
        <p:spPr>
          <a:xfrm>
            <a:off x="793790" y="4809411"/>
            <a:ext cx="6408000" cy="2214300"/>
          </a:xfrm>
          <a:prstGeom prst="roundRect">
            <a:avLst>
              <a:gd fmla="val 922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1020604" y="5036225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7770" y="522327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/>
          <p:nvPr/>
        </p:nvSpPr>
        <p:spPr>
          <a:xfrm>
            <a:off x="1020604" y="5943481"/>
            <a:ext cx="3407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b="0" i="0" lang="en-US" sz="22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Matematički potkrijepljen</a:t>
            </a:r>
            <a:endParaRPr b="0" i="0" sz="2200" u="none" cap="none" strike="noStrike"/>
          </a:p>
        </p:txBody>
      </p:sp>
      <p:sp>
        <p:nvSpPr>
          <p:cNvPr id="204" name="Google Shape;204;p23"/>
          <p:cNvSpPr/>
          <p:nvPr/>
        </p:nvSpPr>
        <p:spPr>
          <a:xfrm>
            <a:off x="1020604" y="6433899"/>
            <a:ext cx="5954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205" name="Google Shape;205;p23"/>
          <p:cNvSpPr/>
          <p:nvPr/>
        </p:nvSpPr>
        <p:spPr>
          <a:xfrm>
            <a:off x="7428548" y="4809411"/>
            <a:ext cx="6408000" cy="2214300"/>
          </a:xfrm>
          <a:prstGeom prst="roundRect">
            <a:avLst>
              <a:gd fmla="val 922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7655362" y="5036225"/>
            <a:ext cx="680400" cy="680400"/>
          </a:xfrm>
          <a:prstGeom prst="roundRect">
            <a:avLst>
              <a:gd fmla="val 13436980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2528" y="522327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/>
          <p:nvPr/>
        </p:nvSpPr>
        <p:spPr>
          <a:xfrm>
            <a:off x="7655362" y="5943481"/>
            <a:ext cx="4832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"/>
              <a:buNone/>
            </a:pPr>
            <a:r>
              <a:rPr b="0" i="0" lang="en-US" sz="220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Kontinuirano uči na novim podacima</a:t>
            </a:r>
            <a:endParaRPr b="0" i="0" sz="2200" u="none" cap="none" strike="noStrike"/>
          </a:p>
        </p:txBody>
      </p:sp>
      <p:sp>
        <p:nvSpPr>
          <p:cNvPr id="209" name="Google Shape;209;p23"/>
          <p:cNvSpPr/>
          <p:nvPr/>
        </p:nvSpPr>
        <p:spPr>
          <a:xfrm>
            <a:off x="7655362" y="6433899"/>
            <a:ext cx="5954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